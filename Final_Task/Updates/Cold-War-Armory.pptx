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embeddedFontLst>
    <p:embeddedFont>
      <p:font typeface="Consolas" panose="020B0609020204030204" pitchFamily="49" charset="0"/>
      <p:regular r:id="rId12"/>
      <p:bold r:id="rId13"/>
      <p:italic r:id="rId14"/>
      <p:boldItalic r:id="rId15"/>
    </p:embeddedFont>
    <p:embeddedFont>
      <p:font typeface="Geist" panose="020B0604020202020204" charset="0"/>
      <p:regular r:id="rId16"/>
    </p:embeddedFont>
    <p:embeddedFont>
      <p:font typeface="Geist Bold" panose="020B0604020202020204" charset="0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54467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2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1093" y="1761068"/>
            <a:ext cx="3506303" cy="467518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37541" y="1091406"/>
            <a:ext cx="6296860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7200" b="1" kern="0" spc="-74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Cold War Armory</a:t>
            </a:r>
            <a:endParaRPr lang="en-US" sz="7200" dirty="0"/>
          </a:p>
        </p:txBody>
      </p:sp>
      <p:sp>
        <p:nvSpPr>
          <p:cNvPr id="5" name="Text 1"/>
          <p:cNvSpPr/>
          <p:nvPr/>
        </p:nvSpPr>
        <p:spPr>
          <a:xfrm>
            <a:off x="437541" y="5732299"/>
            <a:ext cx="6296860" cy="7039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2D5A7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NATO vs Warsaw Pact</a:t>
            </a: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Final Python Project</a:t>
            </a:r>
            <a:endParaRPr lang="en-US" sz="14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Aura Narendra .M</a:t>
            </a:r>
            <a:endParaRPr lang="en-US" sz="14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EDAF78-8D08-FC77-52E7-039F53A2F2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07501" y="2265158"/>
            <a:ext cx="5169159" cy="29076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0839" y="1091406"/>
            <a:ext cx="3506303" cy="467518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61475" y="780157"/>
            <a:ext cx="6296860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700" b="1" kern="0" spc="-74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About the Developer</a:t>
            </a:r>
            <a:endParaRPr lang="en-US" sz="3700" dirty="0"/>
          </a:p>
        </p:txBody>
      </p:sp>
      <p:pic>
        <p:nvPicPr>
          <p:cNvPr id="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1677888"/>
            <a:ext cx="6296860" cy="1340644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977479" y="1892300"/>
            <a:ext cx="5766449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Aura Narendra .M</a:t>
            </a:r>
            <a:endParaRPr lang="en-US" sz="1850" dirty="0"/>
          </a:p>
        </p:txBody>
      </p:sp>
      <p:sp>
        <p:nvSpPr>
          <p:cNvPr id="7" name="Text 2"/>
          <p:cNvSpPr/>
          <p:nvPr/>
        </p:nvSpPr>
        <p:spPr>
          <a:xfrm>
            <a:off x="977479" y="2312789"/>
            <a:ext cx="5766449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Beginner Python Developer focused on programming fundamentals and problem-solving</a:t>
            </a:r>
            <a:endParaRPr lang="en-US" sz="145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207544"/>
            <a:ext cx="6296860" cy="1340644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977479" y="3421955"/>
            <a:ext cx="5766449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Dual Interests</a:t>
            </a:r>
            <a:endParaRPr lang="en-US" sz="1850" dirty="0"/>
          </a:p>
        </p:txBody>
      </p:sp>
      <p:sp>
        <p:nvSpPr>
          <p:cNvPr id="10" name="Text 4"/>
          <p:cNvSpPr/>
          <p:nvPr/>
        </p:nvSpPr>
        <p:spPr>
          <a:xfrm>
            <a:off x="977479" y="3842445"/>
            <a:ext cx="5766449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Passionate about Cold War history and military-themed game design</a:t>
            </a:r>
            <a:endParaRPr lang="en-US" sz="14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4737199"/>
            <a:ext cx="6296860" cy="1340644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977479" y="4951611"/>
            <a:ext cx="5766449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This Project</a:t>
            </a:r>
            <a:endParaRPr lang="en-US" sz="1850" dirty="0"/>
          </a:p>
        </p:txBody>
      </p:sp>
      <p:sp>
        <p:nvSpPr>
          <p:cNvPr id="13" name="Text 6"/>
          <p:cNvSpPr/>
          <p:nvPr/>
        </p:nvSpPr>
        <p:spPr>
          <a:xfrm>
            <a:off x="977479" y="5372100"/>
            <a:ext cx="5766449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Combines both interests into a focused, functional armory subsystem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676797"/>
            <a:ext cx="3504219" cy="350430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33201" y="2375495"/>
            <a:ext cx="6903269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700" b="1" kern="0" spc="-74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Why "Cold War Armory"?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4633201" y="3178770"/>
            <a:ext cx="6903269" cy="1426567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Applies Python programming concepts to a focused weapon-armory system</a:t>
            </a:r>
            <a:endParaRPr lang="en-US" sz="1450" dirty="0"/>
          </a:p>
          <a:p>
            <a:pPr marL="294640" indent="-294640" algn="l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Inspired by </a:t>
            </a: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NATO and Warsaw Pact</a:t>
            </a: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equipment from the Cold War era</a:t>
            </a:r>
            <a:endParaRPr lang="en-US" sz="1450" dirty="0"/>
          </a:p>
          <a:p>
            <a:pPr marL="294640" indent="-294640" algn="l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Project scope: </a:t>
            </a: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armory subsystem only</a:t>
            </a: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not a full game</a:t>
            </a:r>
            <a:endParaRPr lang="en-US" sz="1450" dirty="0"/>
          </a:p>
          <a:p>
            <a:pPr marL="294640" indent="-294640" algn="l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Demonstrates how core Python concepts build a functional, interactive system</a:t>
            </a:r>
            <a:endParaRPr lang="en-US" sz="14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E2DB4F-17DE-69E7-1002-A5A5BF93B7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6893" y="6572210"/>
            <a:ext cx="1305107" cy="28579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53" y="1238250"/>
            <a:ext cx="3506204" cy="4381401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233360" y="589558"/>
            <a:ext cx="6296860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700" b="1" kern="0" spc="-74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Application Flowchart</a:t>
            </a:r>
            <a:endParaRPr lang="en-US" sz="3700" dirty="0"/>
          </a:p>
        </p:txBody>
      </p:sp>
      <p:sp>
        <p:nvSpPr>
          <p:cNvPr id="5" name="Text 1"/>
          <p:cNvSpPr/>
          <p:nvPr/>
        </p:nvSpPr>
        <p:spPr>
          <a:xfrm>
            <a:off x="5233360" y="1487289"/>
            <a:ext cx="6296860" cy="217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flowchart shows the complete logic of the Cold War Armory system, from selecting a faction to finalizing a weapon. The user first chooses between NATO and the Warsaw Pact, then selects a weapon class: Assault, Support, or Recon. The system loads and displays the weapons available for that faction and class, allowing the user to select a weapon and view its detailed information and statistics.</a:t>
            </a:r>
            <a:endParaRPr lang="en-US" sz="14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After viewing the selected weapon, the user enters the </a:t>
            </a: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Armory Menu</a:t>
            </a: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which provides three options: </a:t>
            </a: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Done, Reset, or Compare Weapon</a:t>
            </a: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</a:t>
            </a:r>
            <a:endParaRPr lang="en-US" sz="1450" dirty="0"/>
          </a:p>
        </p:txBody>
      </p:sp>
      <p:sp>
        <p:nvSpPr>
          <p:cNvPr id="6" name="Text 2"/>
          <p:cNvSpPr/>
          <p:nvPr/>
        </p:nvSpPr>
        <p:spPr>
          <a:xfrm>
            <a:off x="5233360" y="3877866"/>
            <a:ext cx="6296860" cy="23905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spcAft>
                <a:spcPts val="1650"/>
              </a:spcAft>
              <a:buNone/>
            </a:pP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Done</a:t>
            </a: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displays a final summary of the selected nation, class, and weapon, then ends the program.</a:t>
            </a:r>
            <a:endParaRPr lang="en-US" sz="1450" dirty="0"/>
          </a:p>
          <a:p>
            <a:pPr marL="0" indent="0" algn="l">
              <a:lnSpc>
                <a:spcPct val="108000"/>
              </a:lnSpc>
              <a:spcAft>
                <a:spcPts val="1650"/>
              </a:spcAft>
              <a:buNone/>
            </a:pP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Reset</a:t>
            </a: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clears the current selection and returns the user to faction selection.</a:t>
            </a:r>
            <a:endParaRPr lang="en-US" sz="14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Compare Weapon</a:t>
            </a: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allows the user to choose another weapon from the </a:t>
            </a: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same faction</a:t>
            </a: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regardless of its class. The two weapons are then compared side by side, after which the user returns to the Armory Menu with the original selection preserved.</a:t>
            </a:r>
            <a:endParaRPr lang="en-US" sz="14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79DD519-E6F4-3859-4807-1F7B97A38E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86893" y="6572210"/>
            <a:ext cx="1305107" cy="28579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8623"/>
            <a:ext cx="10868745" cy="604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650" b="1" kern="0" spc="-73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How the Program Started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61475" y="1631156"/>
            <a:ext cx="5207465" cy="302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kern="0" spc="-37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Original Data Structure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61475" y="2116634"/>
            <a:ext cx="5207465" cy="7197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Weapon data was initially stored as </a:t>
            </a: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nested dictionaries</a:t>
            </a: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in Python, organized by Faction → Class → Weapons → Weapon information.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61475" y="3042345"/>
            <a:ext cx="5207465" cy="1142206"/>
          </a:xfrm>
          <a:prstGeom prst="roundRect">
            <a:avLst>
              <a:gd name="adj" fmla="val 6842"/>
            </a:avLst>
          </a:prstGeom>
          <a:solidFill>
            <a:srgbClr val="002A8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505" y="3286919"/>
            <a:ext cx="232563" cy="1860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66099" y="3253581"/>
            <a:ext cx="4416811" cy="7197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This approach kept all data and logic in a single file — a natural beginner starting point before file processing was introduced.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329105" y="1631156"/>
            <a:ext cx="5207465" cy="302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kern="0" spc="-37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Example Structure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329105" y="2139454"/>
            <a:ext cx="5207465" cy="3943945"/>
          </a:xfrm>
          <a:prstGeom prst="roundRect">
            <a:avLst>
              <a:gd name="adj" fmla="val 1981"/>
            </a:avLst>
          </a:prstGeom>
          <a:solidFill>
            <a:srgbClr val="1D23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552342" y="2325489"/>
            <a:ext cx="4760992" cy="3571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weapons = {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"NATO": {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"Assault": [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{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"name": "M16A1",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"year_design": 1957,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"caliber": "5.56x45mm",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...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]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5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82A16DD-750B-0FA7-5560-C5894A57AB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6893" y="6572210"/>
            <a:ext cx="1305107" cy="28579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9750"/>
            <a:ext cx="10868745" cy="508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050" b="1" kern="0" spc="-62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File Processing: Data Separation</a:t>
            </a:r>
            <a:endParaRPr lang="en-US" sz="30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307703"/>
            <a:ext cx="3622882" cy="62607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17939" y="2063353"/>
            <a:ext cx="3309954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00" b="1" kern="0" spc="-3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External File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817939" y="2395339"/>
            <a:ext cx="3309954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1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weapons.txt</a:t>
            </a: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stores all weapon records, one per line</a:t>
            </a: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4357" y="1307703"/>
            <a:ext cx="3622882" cy="62607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440821" y="2063353"/>
            <a:ext cx="3309954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00" b="1" kern="0" spc="-3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Parse &amp; Convert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4440821" y="2395339"/>
            <a:ext cx="3309954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Python reads each line, separates fields using </a:t>
            </a:r>
            <a:r>
              <a:rPr lang="en-US" sz="1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|</a:t>
            </a: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and converts numeric values</a:t>
            </a:r>
            <a:endParaRPr lang="en-US" sz="12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7239" y="1307703"/>
            <a:ext cx="3622882" cy="62607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63703" y="2063353"/>
            <a:ext cx="3309954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00" b="1" kern="0" spc="-3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Create Objects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8063703" y="2395339"/>
            <a:ext cx="3309954" cy="378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Parsed weapon data is passed into the </a:t>
            </a:r>
            <a:r>
              <a:rPr lang="en-US" sz="120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Weapon</a:t>
            </a: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class to create a weapon object.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661475" y="3205559"/>
            <a:ext cx="5243481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00" b="1" kern="0" spc="-3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weapons.txt line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661475" y="3605609"/>
            <a:ext cx="5243481" cy="813792"/>
          </a:xfrm>
          <a:prstGeom prst="roundRect">
            <a:avLst>
              <a:gd name="adj" fmla="val 8079"/>
            </a:avLst>
          </a:prstGeom>
          <a:solidFill>
            <a:srgbClr val="1D23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9"/>
          <p:cNvSpPr/>
          <p:nvPr/>
        </p:nvSpPr>
        <p:spPr>
          <a:xfrm>
            <a:off x="849291" y="3762077"/>
            <a:ext cx="4867848" cy="500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NATO|Assault|M16A1|1957|5.56x45mm|Semi / Burst|72|88|80|75|20|2.4|35|3.6|A lightweight service rifle...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6293089" y="3205559"/>
            <a:ext cx="5243481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00" b="1" kern="0" spc="-3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load_weapons() function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6293089" y="3605609"/>
            <a:ext cx="5243481" cy="2566789"/>
          </a:xfrm>
          <a:prstGeom prst="roundRect">
            <a:avLst>
              <a:gd name="adj" fmla="val 2561"/>
            </a:avLst>
          </a:prstGeom>
          <a:solidFill>
            <a:srgbClr val="1D23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2"/>
          <p:cNvSpPr/>
          <p:nvPr/>
        </p:nvSpPr>
        <p:spPr>
          <a:xfrm>
            <a:off x="6480906" y="3762077"/>
            <a:ext cx="4867848" cy="22538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line in file: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 = line.strip().split("|")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weapon = Weapon(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data[2],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int(data[3]),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data[4],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data[5],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...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2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F8D8EFE-F11C-6316-95C2-15696D6059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86893" y="6567545"/>
            <a:ext cx="1305107" cy="2857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8941"/>
            <a:ext cx="10868745" cy="441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650" b="1" kern="0" spc="-53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OOP: Class and Object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661475" y="1264444"/>
            <a:ext cx="5268681" cy="2207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b="1" kern="0" spc="-27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The Weapon Class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1595041"/>
            <a:ext cx="5268681" cy="4182864"/>
          </a:xfrm>
          <a:prstGeom prst="roundRect">
            <a:avLst>
              <a:gd name="adj" fmla="val 1364"/>
            </a:avLst>
          </a:prstGeom>
          <a:solidFill>
            <a:srgbClr val="1D23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4487" y="1730871"/>
            <a:ext cx="4942657" cy="3911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Weapon: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__init__(self,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name,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year_design,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caliber,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firing_mode,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damage,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accuracy,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range,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rate_of_fire,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magazine_capacity,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reload_time,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recoil,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weight,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description):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self.name = name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self.damage = damage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self.caliber = caliber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61475" y="5887740"/>
            <a:ext cx="5268681" cy="303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</a:t>
            </a:r>
            <a:r>
              <a:rPr lang="en-US" sz="10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class</a:t>
            </a: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is the blueprint for creating objects. An </a:t>
            </a:r>
            <a:r>
              <a:rPr lang="en-US" sz="10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object</a:t>
            </a: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is an individual weapon instance created from that blueprint.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267889" y="1276648"/>
            <a:ext cx="2585477" cy="767159"/>
          </a:xfrm>
          <a:prstGeom prst="roundRect">
            <a:avLst>
              <a:gd name="adj" fmla="val 7438"/>
            </a:avLst>
          </a:prstGeom>
          <a:solidFill>
            <a:srgbClr val="101620"/>
          </a:solidFill>
          <a:ln w="12700">
            <a:solidFill>
              <a:srgbClr val="002A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16415" y="1425178"/>
            <a:ext cx="2288423" cy="2207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b="1" kern="0" spc="-2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Weapon Class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16415" y="1743571"/>
            <a:ext cx="2288423" cy="151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Blueprint defining shared structure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950994" y="1276648"/>
            <a:ext cx="2585576" cy="767159"/>
          </a:xfrm>
          <a:prstGeom prst="roundRect">
            <a:avLst>
              <a:gd name="adj" fmla="val 7438"/>
            </a:avLst>
          </a:prstGeom>
          <a:solidFill>
            <a:srgbClr val="101620"/>
          </a:solidFill>
          <a:ln w="12700">
            <a:solidFill>
              <a:srgbClr val="002A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099521" y="1425178"/>
            <a:ext cx="2288522" cy="2207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b="1" kern="0" spc="-2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M16A1 Object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099521" y="1743571"/>
            <a:ext cx="2288522" cy="151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NATO · Assault · damage 72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67889" y="2141438"/>
            <a:ext cx="2585477" cy="767159"/>
          </a:xfrm>
          <a:prstGeom prst="roundRect">
            <a:avLst>
              <a:gd name="adj" fmla="val 7438"/>
            </a:avLst>
          </a:prstGeom>
          <a:solidFill>
            <a:srgbClr val="101620"/>
          </a:solidFill>
          <a:ln w="12700">
            <a:solidFill>
              <a:srgbClr val="002A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16415" y="2289969"/>
            <a:ext cx="2288423" cy="2207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b="1" kern="0" spc="-2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FN FAL Object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16415" y="2608362"/>
            <a:ext cx="2288423" cy="151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NATO · Assault · damage 80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950994" y="2141438"/>
            <a:ext cx="2585576" cy="767159"/>
          </a:xfrm>
          <a:prstGeom prst="roundRect">
            <a:avLst>
              <a:gd name="adj" fmla="val 7438"/>
            </a:avLst>
          </a:prstGeom>
          <a:solidFill>
            <a:srgbClr val="101620"/>
          </a:solidFill>
          <a:ln w="12700">
            <a:solidFill>
              <a:srgbClr val="002A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099521" y="2289969"/>
            <a:ext cx="2288522" cy="2207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b="1" kern="0" spc="-2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AKM Object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099521" y="2608362"/>
            <a:ext cx="2288522" cy="151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Warsaw Pact · Assault · damage 75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67889" y="3006229"/>
            <a:ext cx="5268681" cy="767159"/>
          </a:xfrm>
          <a:prstGeom prst="roundRect">
            <a:avLst>
              <a:gd name="adj" fmla="val 7438"/>
            </a:avLst>
          </a:prstGeom>
          <a:solidFill>
            <a:srgbClr val="101620"/>
          </a:solidFill>
          <a:ln w="12700">
            <a:solidFill>
              <a:srgbClr val="002A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16415" y="3154759"/>
            <a:ext cx="4971628" cy="2207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b="1" kern="0" spc="-2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SVD Object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16415" y="3473152"/>
            <a:ext cx="4971628" cy="151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Warsaw Pact · Recon · damage 88</a:t>
            </a:r>
            <a:endParaRPr lang="en-US" sz="105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A4C2F613-7E8C-0F89-39BE-0747AB94C8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7666" y="6558214"/>
            <a:ext cx="1305107" cy="28579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0839" y="1091406"/>
            <a:ext cx="3506303" cy="467518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61475" y="988715"/>
            <a:ext cx="6296860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700" b="1" kern="0" spc="-74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OOP: Behavior and Methods</a:t>
            </a:r>
            <a:endParaRPr lang="en-US" sz="3700" dirty="0"/>
          </a:p>
        </p:txBody>
      </p:sp>
      <p:pic>
        <p:nvPicPr>
          <p:cNvPr id="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1886446"/>
            <a:ext cx="472468" cy="47248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370177" y="1886446"/>
            <a:ext cx="5588158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show_info()</a:t>
            </a:r>
            <a:endParaRPr lang="en-US" sz="1850" dirty="0"/>
          </a:p>
        </p:txBody>
      </p:sp>
      <p:sp>
        <p:nvSpPr>
          <p:cNvPr id="7" name="Text 2"/>
          <p:cNvSpPr/>
          <p:nvPr/>
        </p:nvSpPr>
        <p:spPr>
          <a:xfrm>
            <a:off x="1370177" y="2306935"/>
            <a:ext cx="5588158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Displays the weapon's own information — name, caliber, damage, accuracy, and other attributes.</a:t>
            </a:r>
            <a:endParaRPr lang="en-US" sz="145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176290"/>
            <a:ext cx="472468" cy="47248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1370177" y="3176290"/>
            <a:ext cx="5588158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compare(other_weapon)</a:t>
            </a:r>
            <a:endParaRPr lang="en-US" sz="1850" dirty="0"/>
          </a:p>
        </p:txBody>
      </p:sp>
      <p:sp>
        <p:nvSpPr>
          <p:cNvPr id="10" name="Text 4"/>
          <p:cNvSpPr/>
          <p:nvPr/>
        </p:nvSpPr>
        <p:spPr>
          <a:xfrm>
            <a:off x="1370177" y="3596779"/>
            <a:ext cx="5588158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Compares two Weapon objects side by side and displays their statistics for easy comparison.</a:t>
            </a:r>
            <a:endParaRPr lang="en-US" sz="14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4466134"/>
            <a:ext cx="472468" cy="47248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370177" y="4466134"/>
            <a:ext cx="5588158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Encapsulation</a:t>
            </a:r>
            <a:endParaRPr lang="en-US" sz="1850" dirty="0"/>
          </a:p>
        </p:txBody>
      </p:sp>
      <p:sp>
        <p:nvSpPr>
          <p:cNvPr id="13" name="Text 6"/>
          <p:cNvSpPr/>
          <p:nvPr/>
        </p:nvSpPr>
        <p:spPr>
          <a:xfrm>
            <a:off x="1370177" y="4886623"/>
            <a:ext cx="5588158" cy="982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Encapsulation was studied and experimentally tested, but it was not forced into the final implementation because the current Armory did not require additional access control for its weapon statistics.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2195"/>
            <a:ext cx="10868745" cy="604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650" b="1" kern="0" spc="-73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Final Result</a:t>
            </a:r>
            <a:endParaRPr lang="en-US" sz="3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543149"/>
            <a:ext cx="5342796" cy="18540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21255" y="1677095"/>
            <a:ext cx="223237" cy="2902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b="1" kern="0" spc="-29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872905" y="2287389"/>
            <a:ext cx="4919936" cy="302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External Weapon Database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72905" y="2699544"/>
            <a:ext cx="4919936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Weapon records are loaded from </a:t>
            </a: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weapons.txt</a:t>
            </a: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using file processing.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87424" y="1543149"/>
            <a:ext cx="5342796" cy="185400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747204" y="1677095"/>
            <a:ext cx="223237" cy="2902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b="1" kern="0" spc="-29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2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6398854" y="2287389"/>
            <a:ext cx="4919936" cy="302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OOP Implementation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6398854" y="2699544"/>
            <a:ext cx="4919936" cy="486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Weapon class creates weapon objects and provides </a:t>
            </a:r>
            <a:r>
              <a:rPr lang="en-US" sz="145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show_info()</a:t>
            </a: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and </a:t>
            </a:r>
            <a:r>
              <a:rPr lang="en-US" sz="145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compare()</a:t>
            </a: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methods.</a:t>
            </a:r>
            <a:endParaRPr lang="en-US" sz="14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580309"/>
            <a:ext cx="5342796" cy="184765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221255" y="3714254"/>
            <a:ext cx="223237" cy="2902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b="1" kern="0" spc="-29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3</a:t>
            </a:r>
            <a:endParaRPr lang="en-US" sz="1750" dirty="0"/>
          </a:p>
        </p:txBody>
      </p:sp>
      <p:sp>
        <p:nvSpPr>
          <p:cNvPr id="13" name="Text 8"/>
          <p:cNvSpPr/>
          <p:nvPr/>
        </p:nvSpPr>
        <p:spPr>
          <a:xfrm>
            <a:off x="872905" y="4324548"/>
            <a:ext cx="4919936" cy="302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Armory Menu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872905" y="4736703"/>
            <a:ext cx="4919936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Done, Reset, Compare Weapon — supports same-faction weapon comparisons across any class.</a:t>
            </a:r>
            <a:endParaRPr lang="en-US" sz="14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87424" y="3580309"/>
            <a:ext cx="5342796" cy="184765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747204" y="3714254"/>
            <a:ext cx="223237" cy="2902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b="1" kern="0" spc="-29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4</a:t>
            </a:r>
            <a:endParaRPr lang="en-US" sz="1750" dirty="0"/>
          </a:p>
        </p:txBody>
      </p:sp>
      <p:sp>
        <p:nvSpPr>
          <p:cNvPr id="17" name="Text 11"/>
          <p:cNvSpPr/>
          <p:nvPr/>
        </p:nvSpPr>
        <p:spPr>
          <a:xfrm>
            <a:off x="6398854" y="4324548"/>
            <a:ext cx="4919936" cy="302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Focused Scope</a:t>
            </a:r>
            <a:endParaRPr lang="en-US" sz="1800" dirty="0"/>
          </a:p>
        </p:txBody>
      </p:sp>
      <p:sp>
        <p:nvSpPr>
          <p:cNvPr id="18" name="Text 12"/>
          <p:cNvSpPr/>
          <p:nvPr/>
        </p:nvSpPr>
        <p:spPr>
          <a:xfrm>
            <a:off x="6398854" y="4736703"/>
            <a:ext cx="4919936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final project remains a focused Cold War Armory subsystem rather than a full game.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940570" y="5839916"/>
            <a:ext cx="11199235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project demonstrates how Python concepts combine into a focused and functional Cold War Armory system.</a:t>
            </a:r>
            <a:endParaRPr lang="en-US" sz="1450" dirty="0"/>
          </a:p>
        </p:txBody>
      </p:sp>
      <p:sp>
        <p:nvSpPr>
          <p:cNvPr id="20" name="Shape 14"/>
          <p:cNvSpPr/>
          <p:nvPr/>
        </p:nvSpPr>
        <p:spPr>
          <a:xfrm>
            <a:off x="661475" y="5633938"/>
            <a:ext cx="25399" cy="651867"/>
          </a:xfrm>
          <a:prstGeom prst="roundRect">
            <a:avLst>
              <a:gd name="adj" fmla="val 50001"/>
            </a:avLst>
          </a:prstGeom>
          <a:solidFill>
            <a:srgbClr val="6296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280540A-F994-074F-4DA5-C9C8C7E13D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34698" y="6572210"/>
            <a:ext cx="1305107" cy="28579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835</Words>
  <Application>Microsoft Office PowerPoint</Application>
  <PresentationFormat>Widescreen</PresentationFormat>
  <Paragraphs>118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Geist Bold</vt:lpstr>
      <vt:lpstr>Arial</vt:lpstr>
      <vt:lpstr>Geist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nanendra maheswara</cp:lastModifiedBy>
  <cp:revision>2</cp:revision>
  <dcterms:created xsi:type="dcterms:W3CDTF">2026-08-22T05:22:29Z</dcterms:created>
  <dcterms:modified xsi:type="dcterms:W3CDTF">2026-08-22T05:26:34Z</dcterms:modified>
</cp:coreProperties>
</file>